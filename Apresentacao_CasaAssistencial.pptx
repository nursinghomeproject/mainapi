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59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5" r:id="rId1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-51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" cy="6858000"/>
          </a:xfrm>
          <a:prstGeom prst="rect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875520" y="-1097280"/>
            <a:ext cx="4114800" cy="4114800"/>
          </a:xfrm>
          <a:prstGeom prst="ellipse">
            <a:avLst/>
          </a:prstGeom>
          <a:solidFill>
            <a:srgbClr val="21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0" y="-457200"/>
            <a:ext cx="2743200" cy="2743200"/>
          </a:xfrm>
          <a:prstGeom prst="ellipse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0" y="4754880"/>
            <a:ext cx="2286000" cy="2286000"/>
          </a:xfrm>
          <a:prstGeom prst="ellipse">
            <a:avLst/>
          </a:prstGeom>
          <a:solidFill>
            <a:srgbClr val="1A2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88720" y="1280160"/>
            <a:ext cx="12801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508760" y="1005840"/>
            <a:ext cx="6400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6400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B595"/>
                </a:solidFill>
                <a:latin typeface="Calibri"/>
              </a:rPr>
              <a:t>PLATAFORMA DE GESTÃO ASSISTENCIAL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86000"/>
            <a:ext cx="9601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5400" b="1" i="0" dirty="0" smtClean="0">
                <a:solidFill>
                  <a:srgbClr val="FFFFFF"/>
                </a:solidFill>
                <a:latin typeface="Calibri"/>
              </a:rPr>
              <a:t>CASA VIDA RESIDENCIAL</a:t>
            </a:r>
            <a:endParaRPr sz="5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88720" y="3794760"/>
            <a:ext cx="6400800" cy="41148"/>
          </a:xfrm>
          <a:prstGeom prst="rect">
            <a:avLst/>
          </a:prstGeom>
          <a:solidFill>
            <a:srgbClr val="1AB5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3931920"/>
            <a:ext cx="9144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 err="1">
                <a:solidFill>
                  <a:srgbClr val="1AB595"/>
                </a:solidFill>
                <a:latin typeface="Calibri"/>
              </a:rPr>
              <a:t>Plataforma</a:t>
            </a:r>
            <a:r>
              <a:rPr sz="2200" b="0" i="0" dirty="0">
                <a:solidFill>
                  <a:srgbClr val="1AB595"/>
                </a:solidFill>
                <a:latin typeface="Calibri"/>
              </a:rPr>
              <a:t> de </a:t>
            </a:r>
            <a:r>
              <a:rPr sz="2200" b="0" i="0" dirty="0" err="1">
                <a:solidFill>
                  <a:srgbClr val="1AB595"/>
                </a:solidFill>
                <a:latin typeface="Calibri"/>
              </a:rPr>
              <a:t>Gestão</a:t>
            </a:r>
            <a:r>
              <a:rPr sz="2200" b="0" i="0" dirty="0">
                <a:solidFill>
                  <a:srgbClr val="1AB595"/>
                </a:solidFill>
                <a:latin typeface="Calibri"/>
              </a:rPr>
              <a:t> </a:t>
            </a:r>
            <a:r>
              <a:rPr sz="2200" b="0" i="0" dirty="0" err="1" smtClean="0">
                <a:solidFill>
                  <a:srgbClr val="1AB595"/>
                </a:solidFill>
                <a:latin typeface="Calibri"/>
              </a:rPr>
              <a:t>Assistencial</a:t>
            </a:r>
            <a:endParaRPr sz="2200" b="0" i="0" dirty="0">
              <a:solidFill>
                <a:srgbClr val="1AB595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88720" y="4663440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8E99AA"/>
                </a:solidFill>
                <a:latin typeface="Calibri"/>
              </a:rPr>
              <a:t>Arquitetura</a:t>
            </a:r>
            <a:r>
              <a:rPr sz="1400" b="0" i="0" dirty="0">
                <a:solidFill>
                  <a:srgbClr val="8E99AA"/>
                </a:solidFill>
                <a:latin typeface="Calibri"/>
              </a:rPr>
              <a:t> · </a:t>
            </a:r>
            <a:r>
              <a:rPr sz="1400" b="0" i="0" dirty="0" err="1" smtClean="0">
                <a:solidFill>
                  <a:srgbClr val="8E99AA"/>
                </a:solidFill>
                <a:latin typeface="Calibri"/>
              </a:rPr>
              <a:t>Infraestrutura</a:t>
            </a:r>
            <a:endParaRPr sz="1400" b="0" i="0" dirty="0">
              <a:solidFill>
                <a:srgbClr val="8E99AA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1234440"/>
          </a:xfrm>
          <a:prstGeom prst="rect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Como o Usuário Acessa o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B595"/>
                </a:solidFill>
                <a:latin typeface="Calibri"/>
              </a:rPr>
              <a:t>O sistema funciona pelo navegador — sem instalar nada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566160" cy="502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3566160" cy="64008"/>
          </a:xfrm>
          <a:prstGeom prst="rect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2D3A4A"/>
                </a:solidFill>
                <a:latin typeface="Calibri"/>
              </a:rPr>
              <a:t>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060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6796A"/>
                </a:solidFill>
                <a:latin typeface="Calibri"/>
              </a:rPr>
              <a:t>Computador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54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3A4A"/>
                </a:solidFill>
                <a:latin typeface="Calibri"/>
              </a:rPr>
              <a:t>Acesso pelo navegador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564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3A4A"/>
                </a:solidFill>
                <a:latin typeface="Calibri"/>
              </a:rPr>
              <a:t>(Chrome, Firefox, Edge)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5818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0599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3A4A"/>
                </a:solidFill>
                <a:latin typeface="Calibri"/>
              </a:rPr>
              <a:t>Ideal para trabalho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616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3A4A"/>
                </a:solidFill>
                <a:latin typeface="Calibri"/>
              </a:rPr>
              <a:t>administrativo completo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463040"/>
            <a:ext cx="3566160" cy="502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89120" y="1463040"/>
            <a:ext cx="3566160" cy="64008"/>
          </a:xfrm>
          <a:prstGeom prst="rect">
            <a:avLst/>
          </a:prstGeom>
          <a:solidFill>
            <a:srgbClr val="21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89120" y="169164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2D3A4A"/>
                </a:solidFill>
                <a:latin typeface="Calibri"/>
              </a:rPr>
              <a:t>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6060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14F7E"/>
                </a:solidFill>
                <a:latin typeface="Calibri"/>
              </a:rPr>
              <a:t>Tablet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154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3A4A"/>
                </a:solidFill>
                <a:latin typeface="Calibri"/>
              </a:rPr>
              <a:t>Acesso pelo navegador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4564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3A4A"/>
                </a:solidFill>
                <a:latin typeface="Calibri"/>
              </a:rPr>
              <a:t>do tablet (Safari, Chrome)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75818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0" y="40599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3A4A"/>
                </a:solidFill>
                <a:latin typeface="Calibri"/>
              </a:rPr>
              <a:t>Perfeito para consulta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3616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3A4A"/>
                </a:solidFill>
                <a:latin typeface="Calibri"/>
              </a:rPr>
              <a:t>em campo e rondas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1463040"/>
            <a:ext cx="3566160" cy="502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9600" y="1463040"/>
            <a:ext cx="3566160" cy="64008"/>
          </a:xfrm>
          <a:prstGeom prst="rect">
            <a:avLst/>
          </a:prstGeom>
          <a:solidFill>
            <a:srgbClr val="F0A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0" y="169164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2D3A4A"/>
                </a:solidFill>
                <a:latin typeface="Calibri"/>
              </a:rPr>
              <a:t>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6060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0A30A"/>
                </a:solidFill>
                <a:latin typeface="Calibri"/>
              </a:rPr>
              <a:t>Celular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154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3A4A"/>
                </a:solidFill>
                <a:latin typeface="Calibri"/>
              </a:rPr>
              <a:t>Funciona como aplicativo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4564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3A4A"/>
                </a:solidFill>
                <a:latin typeface="Calibri"/>
              </a:rPr>
              <a:t>(Tecnologia PWA)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75818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80" y="40599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3A4A"/>
                </a:solidFill>
                <a:latin typeface="Calibri"/>
              </a:rPr>
              <a:t>Instala na tela inicial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3616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3A4A"/>
                </a:solidFill>
                <a:latin typeface="Calibri"/>
              </a:rPr>
              <a:t>sem precisar de loja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0" y="6172200"/>
            <a:ext cx="6675120" cy="502920"/>
          </a:xfrm>
          <a:prstGeom prst="roundRect">
            <a:avLst>
              <a:gd name="adj" fmla="val 6000"/>
            </a:avLst>
          </a:prstGeom>
          <a:solidFill>
            <a:srgbClr val="D4EDE9"/>
          </a:solidFill>
          <a:ln w="12700">
            <a:solidFill>
              <a:srgbClr val="1679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926080" y="62179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6796A"/>
                </a:solidFill>
                <a:latin typeface="Calibri"/>
              </a:rPr>
              <a:t>✓  PWA (Progressive Web App): o sistema pode ser instalado como app no celular sem precisar de Google Play ou App Store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492240"/>
            <a:ext cx="457200" cy="27432"/>
          </a:xfrm>
          <a:prstGeom prst="rect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E99AA"/>
                </a:solidFill>
                <a:latin typeface="Calibri"/>
              </a:rPr>
              <a:t>Casa Assistencial · Acesso ao Sistema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1234440"/>
          </a:xfrm>
          <a:prstGeom prst="rect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Frontend — A Parte Visual do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B595"/>
                </a:solidFill>
                <a:latin typeface="Calibri"/>
              </a:rPr>
              <a:t>Tudo que o usuário vê e com que interage na tela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5029200" cy="5120640"/>
          </a:xfrm>
          <a:prstGeom prst="roundRect">
            <a:avLst>
              <a:gd name="adj" fmla="val 6000"/>
            </a:avLst>
          </a:prstGeom>
          <a:solidFill>
            <a:srgbClr val="D4EDE9"/>
          </a:solidFill>
          <a:ln w="12700">
            <a:solidFill>
              <a:srgbClr val="1679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029200" cy="64008"/>
          </a:xfrm>
          <a:prstGeom prst="rect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0" b="0" i="0">
                <a:solidFill>
                  <a:srgbClr val="16796A"/>
                </a:solidFill>
                <a:latin typeface="Calibri"/>
              </a:rPr>
              <a:t>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632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6796A"/>
                </a:solidFill>
                <a:latin typeface="Calibri"/>
              </a:rPr>
              <a:t>Interface do Usuário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118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2D3A4A"/>
                </a:solidFill>
                <a:latin typeface="Calibri"/>
              </a:rPr>
              <a:t>Construído com React + TypeScript
Design moderno e responsivo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1417320"/>
            <a:ext cx="59436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60720" y="1417320"/>
            <a:ext cx="64008" cy="1097280"/>
          </a:xfrm>
          <a:prstGeom prst="rect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0" y="15087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E4A"/>
                </a:solidFill>
                <a:latin typeface="Calibri"/>
              </a:rPr>
              <a:t>Telas e Formulários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87452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Cadastro de pacientes, prescrições e movimentações de estoque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2651760"/>
            <a:ext cx="59436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60720" y="2651760"/>
            <a:ext cx="64008" cy="1097280"/>
          </a:xfrm>
          <a:prstGeom prst="rect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0" y="27432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E4A"/>
                </a:solidFill>
                <a:latin typeface="Calibri"/>
              </a:rPr>
              <a:t>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10896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Painel com indicadores e resumo operacional em tempo real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0" y="3886200"/>
            <a:ext cx="59436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760720" y="3886200"/>
            <a:ext cx="64008" cy="1097280"/>
          </a:xfrm>
          <a:prstGeom prst="rect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0" y="39776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E4A"/>
                </a:solidFill>
                <a:latin typeface="Calibri"/>
              </a:rPr>
              <a:t>Alertas Visuais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34340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Notificações de estoque baixo e doses atrasadas com destaque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720" y="5120640"/>
            <a:ext cx="59436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760720" y="5120640"/>
            <a:ext cx="64008" cy="1097280"/>
          </a:xfrm>
          <a:prstGeom prst="rect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0" y="52120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E4A"/>
                </a:solidFill>
                <a:latin typeface="Calibri"/>
              </a:rPr>
              <a:t>Responsivo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557784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Adapta automaticamente ao tamanho do computador, tablet ou celular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492240"/>
            <a:ext cx="457200" cy="27432"/>
          </a:xfrm>
          <a:prstGeom prst="rect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E99AA"/>
                </a:solidFill>
                <a:latin typeface="Calibri"/>
              </a:rPr>
              <a:t>Casa Assistencial · Frontend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1234440"/>
          </a:xfrm>
          <a:prstGeom prst="rect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Backend — O Cérebro do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B595"/>
                </a:solidFill>
                <a:latin typeface="Calibri"/>
              </a:rPr>
              <a:t>Processa as regras, validações e cálculos do negócio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417320"/>
            <a:ext cx="5029200" cy="512064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 w="12700">
            <a:solidFill>
              <a:srgbClr val="21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675120" y="1417320"/>
            <a:ext cx="5029200" cy="64008"/>
          </a:xfrm>
          <a:prstGeom prst="rect">
            <a:avLst/>
          </a:prstGeom>
          <a:solidFill>
            <a:srgbClr val="21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6002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0" b="0" i="0">
                <a:solidFill>
                  <a:srgbClr val="214F7E"/>
                </a:solidFill>
                <a:latin typeface="Calibri"/>
              </a:rPr>
              <a:t>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0632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14F7E"/>
                </a:solidFill>
                <a:latin typeface="Calibri"/>
              </a:rPr>
              <a:t>Motor de Regras e Cálculos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6118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2D3A4A"/>
                </a:solidFill>
                <a:latin typeface="Calibri"/>
              </a:rPr>
              <a:t>Construído com FastAPI + Python
Rápido, seguro e escalável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417320"/>
            <a:ext cx="59436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417320"/>
            <a:ext cx="64008" cy="1097280"/>
          </a:xfrm>
          <a:prstGeom prst="rect">
            <a:avLst/>
          </a:prstGeom>
          <a:solidFill>
            <a:srgbClr val="21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15087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E4A"/>
                </a:solidFill>
                <a:latin typeface="Calibri"/>
              </a:rPr>
              <a:t>Regras de Negócio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87452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Define o que pode ou não acontecer (ex: dose já administrada não pode ser duplicada)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651760"/>
            <a:ext cx="59436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2651760"/>
            <a:ext cx="64008" cy="1097280"/>
          </a:xfrm>
          <a:prstGeom prst="rect">
            <a:avLst/>
          </a:prstGeom>
          <a:solidFill>
            <a:srgbClr val="21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7432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E4A"/>
                </a:solidFill>
                <a:latin typeface="Calibri"/>
              </a:rPr>
              <a:t>Cálculo de Consumo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10896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Calcula automaticamente se o consumo real bate com a prescrição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886200"/>
            <a:ext cx="59436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886200"/>
            <a:ext cx="64008" cy="1097280"/>
          </a:xfrm>
          <a:prstGeom prst="rect">
            <a:avLst/>
          </a:prstGeom>
          <a:solidFill>
            <a:srgbClr val="21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39776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E4A"/>
                </a:solidFill>
                <a:latin typeface="Calibri"/>
              </a:rPr>
              <a:t>Autenticação e Segurança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34340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Garante que só usuários autorizados acessam as informações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120640"/>
            <a:ext cx="59436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5120640"/>
            <a:ext cx="64008" cy="1097280"/>
          </a:xfrm>
          <a:prstGeom prst="rect">
            <a:avLst/>
          </a:prstGeom>
          <a:solidFill>
            <a:srgbClr val="21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E4A"/>
                </a:solidFill>
                <a:latin typeface="Calibri"/>
              </a:rPr>
              <a:t>Geração de Alertas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7784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Identifica situações de risco e gera alertas automáticos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492240"/>
            <a:ext cx="457200" cy="27432"/>
          </a:xfrm>
          <a:prstGeom prst="rect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E99AA"/>
                </a:solidFill>
                <a:latin typeface="Calibri"/>
              </a:rPr>
              <a:t>Casa Assistencial · Backend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1234440"/>
          </a:xfrm>
          <a:prstGeom prst="rect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Banco de Dados — A Memória do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B595"/>
                </a:solidFill>
                <a:latin typeface="Calibri"/>
              </a:rPr>
              <a:t>Onde todas as informações ficam guardadas com segurança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463040"/>
            <a:ext cx="3931920" cy="4114800"/>
          </a:xfrm>
          <a:prstGeom prst="roundRect">
            <a:avLst>
              <a:gd name="adj" fmla="val 6000"/>
            </a:avLst>
          </a:prstGeom>
          <a:solidFill>
            <a:srgbClr val="EAF0F8"/>
          </a:solidFill>
          <a:ln w="12700">
            <a:solidFill>
              <a:srgbClr val="1A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0" y="1463040"/>
            <a:ext cx="3931920" cy="6400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0" y="164592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 i="0">
                <a:solidFill>
                  <a:srgbClr val="1A2E4A"/>
                </a:solidFill>
                <a:latin typeface="Calibri"/>
              </a:rPr>
              <a:t>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8803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2E4A"/>
                </a:solidFill>
                <a:latin typeface="Calibri"/>
              </a:rPr>
              <a:t>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3383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3A4A"/>
                </a:solidFill>
                <a:latin typeface="Calibri"/>
              </a:rPr>
              <a:t>Informações armazenadas: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749039"/>
            <a:ext cx="1691640" cy="347472"/>
          </a:xfrm>
          <a:prstGeom prst="roundRect">
            <a:avLst>
              <a:gd name="adj" fmla="val 6000"/>
            </a:avLst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0" y="3749039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Pacientes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1691640" cy="347472"/>
          </a:xfrm>
          <a:prstGeom prst="roundRect">
            <a:avLst>
              <a:gd name="adj" fmla="val 6000"/>
            </a:avLst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0" y="3749039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Prescrições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160519"/>
            <a:ext cx="1691640" cy="347472"/>
          </a:xfrm>
          <a:prstGeom prst="roundRect">
            <a:avLst>
              <a:gd name="adj" fmla="val 6000"/>
            </a:avLst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97680" y="4160519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Medicamentos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4160519"/>
            <a:ext cx="1691640" cy="347472"/>
          </a:xfrm>
          <a:prstGeom prst="roundRect">
            <a:avLst>
              <a:gd name="adj" fmla="val 6000"/>
            </a:avLst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26480" y="4160519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Estoque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4571999"/>
            <a:ext cx="1691640" cy="347472"/>
          </a:xfrm>
          <a:prstGeom prst="roundRect">
            <a:avLst>
              <a:gd name="adj" fmla="val 6000"/>
            </a:avLst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97680" y="4571999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Alertas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4571999"/>
            <a:ext cx="1691640" cy="347472"/>
          </a:xfrm>
          <a:prstGeom prst="roundRect">
            <a:avLst>
              <a:gd name="adj" fmla="val 6000"/>
            </a:avLst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6480" y="4571999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Usuários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1463040"/>
            <a:ext cx="347472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5760" y="1463040"/>
            <a:ext cx="64008" cy="219456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1554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  <a:latin typeface="Calibri"/>
              </a:rPr>
              <a:t>🔒 Segurança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196596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Dados protegidos com
criptografia e backups
automáticos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3977640"/>
            <a:ext cx="347472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65760" y="3977640"/>
            <a:ext cx="64008" cy="219456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4069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  <a:latin typeface="Calibri"/>
              </a:rPr>
              <a:t>📋 Organização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48056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Cada tipo de informação
em sua própria tabela
estruturada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21040" y="1463040"/>
            <a:ext cx="347472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321040" y="1463040"/>
            <a:ext cx="64008" cy="219456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03920" y="1554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  <a:latin typeface="Calibri"/>
              </a:rPr>
              <a:t>⚡ Velocidade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196596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Consultas rápidas mesmo
com grande volume
de registros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21040" y="3977640"/>
            <a:ext cx="347472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321040" y="3977640"/>
            <a:ext cx="64008" cy="219456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503920" y="4069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  <a:latin typeface="Calibri"/>
              </a:rPr>
              <a:t>📦 Confiabilidade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448056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PostgreSQL: banco usado
by grandes empresas
no mundo todo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6492240"/>
            <a:ext cx="457200" cy="27432"/>
          </a:xfrm>
          <a:prstGeom prst="rect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E99AA"/>
                </a:solidFill>
                <a:latin typeface="Calibri"/>
              </a:rPr>
              <a:t>Casa Assistencial · Banco de Dados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1234440"/>
          </a:xfrm>
          <a:prstGeom prst="rect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Como as Partes se Conectam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B595"/>
                </a:solidFill>
                <a:latin typeface="Calibri"/>
              </a:rPr>
              <a:t>O caminho percorrido desde o clique do usuário até a resposta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011680"/>
            <a:ext cx="1828800" cy="3474720"/>
          </a:xfrm>
          <a:prstGeom prst="roundRect">
            <a:avLst>
              <a:gd name="adj" fmla="val 6000"/>
            </a:avLst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21945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0175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Usuário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56616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Clica ou
digita algo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011680"/>
            <a:ext cx="1828800" cy="3474720"/>
          </a:xfrm>
          <a:prstGeom prst="roundRect">
            <a:avLst>
              <a:gd name="adj" fmla="val 6000"/>
            </a:avLst>
          </a:prstGeom>
          <a:solidFill>
            <a:srgbClr val="21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34640" y="21945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0175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56616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Mostra as
telas e recebe
ações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2011680"/>
            <a:ext cx="1828800" cy="3474720"/>
          </a:xfrm>
          <a:prstGeom prst="roundRect">
            <a:avLst>
              <a:gd name="adj" fmla="val 6000"/>
            </a:avLst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0" y="21945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0175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56616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Processa,
calcula e
valida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2011680"/>
            <a:ext cx="1828800" cy="3474720"/>
          </a:xfrm>
          <a:prstGeom prst="roundRect">
            <a:avLst>
              <a:gd name="adj" fmla="val 6000"/>
            </a:avLst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0" y="21945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0175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Banco de
Dados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56616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Salva ou
busca as
informações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0" y="2011680"/>
            <a:ext cx="1828800" cy="3474720"/>
          </a:xfrm>
          <a:prstGeom prst="roundRect">
            <a:avLst>
              <a:gd name="adj" fmla="val 6000"/>
            </a:avLst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241280" y="21945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30175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Resultado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356616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Resposta
exibida na
tela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212848" y="3520440"/>
            <a:ext cx="594360" cy="274320"/>
          </a:xfrm>
          <a:prstGeom prst="rightArrow">
            <a:avLst/>
          </a:prstGeom>
          <a:solidFill>
            <a:srgbClr val="F0A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ight Arrow 27"/>
          <p:cNvSpPr/>
          <p:nvPr/>
        </p:nvSpPr>
        <p:spPr>
          <a:xfrm>
            <a:off x="4681728" y="3520440"/>
            <a:ext cx="594360" cy="274320"/>
          </a:xfrm>
          <a:prstGeom prst="rightArrow">
            <a:avLst/>
          </a:prstGeom>
          <a:solidFill>
            <a:srgbClr val="F0A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ight Arrow 28"/>
          <p:cNvSpPr/>
          <p:nvPr/>
        </p:nvSpPr>
        <p:spPr>
          <a:xfrm>
            <a:off x="7150608" y="3520440"/>
            <a:ext cx="594360" cy="274320"/>
          </a:xfrm>
          <a:prstGeom prst="rightArrow">
            <a:avLst/>
          </a:prstGeom>
          <a:solidFill>
            <a:srgbClr val="F0A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ight Arrow 29"/>
          <p:cNvSpPr/>
          <p:nvPr/>
        </p:nvSpPr>
        <p:spPr>
          <a:xfrm>
            <a:off x="9619488" y="3520440"/>
            <a:ext cx="594360" cy="274320"/>
          </a:xfrm>
          <a:prstGeom prst="rightArrow">
            <a:avLst/>
          </a:prstGeom>
          <a:solidFill>
            <a:srgbClr val="F0A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828800" y="5760720"/>
            <a:ext cx="8503920" cy="640080"/>
          </a:xfrm>
          <a:prstGeom prst="roundRect">
            <a:avLst>
              <a:gd name="adj" fmla="val 6000"/>
            </a:avLst>
          </a:prstGeom>
          <a:solidFill>
            <a:srgbClr val="D4EDE9"/>
          </a:solidFill>
          <a:ln w="12700">
            <a:solidFill>
              <a:srgbClr val="1679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011680" y="583387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6796A"/>
                </a:solidFill>
                <a:latin typeface="Calibri"/>
              </a:rPr>
              <a:t>💡  Tudo isso acontece em frações de segundo. O usuário só vê a tela atualizada com as informações corretas.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492240"/>
            <a:ext cx="457200" cy="27432"/>
          </a:xfrm>
          <a:prstGeom prst="rect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E99AA"/>
                </a:solidFill>
                <a:latin typeface="Calibri"/>
              </a:rPr>
              <a:t>Casa Assistencial · Fluxo de Dados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1234440"/>
          </a:xfrm>
          <a:prstGeom prst="rect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 que é Computação em Nuvem?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B595"/>
                </a:solidFill>
                <a:latin typeface="Calibri"/>
              </a:rPr>
              <a:t>Uma explicação simples para um conceito poderoso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11247120" cy="1828800"/>
          </a:xfrm>
          <a:prstGeom prst="roundRect">
            <a:avLst>
              <a:gd name="adj" fmla="val 6000"/>
            </a:avLst>
          </a:prstGeom>
          <a:solidFill>
            <a:srgbClr val="D4EDE9"/>
          </a:solidFill>
          <a:ln w="12700">
            <a:solidFill>
              <a:srgbClr val="1679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16796A"/>
                </a:solidFill>
                <a:latin typeface="Calibri"/>
              </a:rPr>
              <a:t>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5087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796A"/>
                </a:solidFill>
                <a:latin typeface="Calibri"/>
              </a:rPr>
              <a:t>Analogia simples: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9202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  <a:latin typeface="Calibri"/>
              </a:rPr>
              <a:t>Assim como a energia elétrica vem de uma usina distante e chega em sua casa pela tomada, a computação em nuvem entrega poder de processamento e armazenamento pela internet — sem precisar ter um servidor físico na própria instituição.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520440"/>
            <a:ext cx="356616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3520440"/>
            <a:ext cx="3566160" cy="64008"/>
          </a:xfrm>
          <a:prstGeom prst="rect">
            <a:avLst/>
          </a:prstGeom>
          <a:solidFill>
            <a:srgbClr val="8E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611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A4A"/>
                </a:solidFill>
                <a:latin typeface="Calibri"/>
              </a:rPr>
              <a:t>🏢 Servidor Próprio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69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• Comprar hardware caro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165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• Manter equipe técnica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6402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• Risco de falha físca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1114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• Difícil de ampliar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4589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• Custo fixo alto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520440"/>
            <a:ext cx="356616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97680" y="3520440"/>
            <a:ext cx="3566160" cy="64008"/>
          </a:xfrm>
          <a:prstGeom prst="rect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34840" y="3611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796A"/>
                </a:solidFill>
                <a:latin typeface="Calibri"/>
              </a:rPr>
              <a:t>☁ Nuvem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069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• Pagar só pelo que usa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4165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• Sem hardware para comprar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76402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• Alta disponibilidade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51114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• Amplia com um clique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54589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• Custo sob medida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520440"/>
            <a:ext cx="356616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38160" y="3520440"/>
            <a:ext cx="3566160" cy="64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75320" y="3611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✅ Resultado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069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• Mais barato para iniciar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4165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• Menos risco operacional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76402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• Escalabilidade simples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51114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• Atualizações automáticas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54589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• Suporte 24/7 incluído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492240"/>
            <a:ext cx="457200" cy="27432"/>
          </a:xfrm>
          <a:prstGeom prst="rect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E99AA"/>
                </a:solidFill>
                <a:latin typeface="Calibri"/>
              </a:rPr>
              <a:t>Casa Assistencial · Computação em Nuvem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1234440"/>
          </a:xfrm>
          <a:prstGeom prst="rect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Visão Geral da Arquitetura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B595"/>
                </a:solidFill>
                <a:latin typeface="Calibri"/>
              </a:rPr>
              <a:t>Como as partes do sistema se organizam e se conectam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1920240" cy="2926080"/>
          </a:xfrm>
          <a:prstGeom prst="roundRect">
            <a:avLst>
              <a:gd name="adj" fmla="val 6000"/>
            </a:avLst>
          </a:prstGeom>
          <a:solidFill>
            <a:srgbClr val="8E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Internet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747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Conexão do
usuário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40" y="1828800"/>
            <a:ext cx="1920240" cy="2926080"/>
          </a:xfrm>
          <a:prstGeom prst="roundRect">
            <a:avLst>
              <a:gd name="adj" fmla="val 6000"/>
            </a:avLst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06040" y="20116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  <a:latin typeface="Calibri"/>
              </a:rPr>
              <a:t>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8346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4747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Telas e
interface visual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1828800"/>
            <a:ext cx="1920240" cy="2926080"/>
          </a:xfrm>
          <a:prstGeom prst="roundRect">
            <a:avLst>
              <a:gd name="adj" fmla="val 6000"/>
            </a:avLst>
          </a:prstGeom>
          <a:solidFill>
            <a:srgbClr val="21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0" y="20116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  <a:latin typeface="Calibri"/>
              </a:rPr>
              <a:t>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8346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4747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Regras e
cálculos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1828800"/>
            <a:ext cx="1920240" cy="2926080"/>
          </a:xfrm>
          <a:prstGeom prst="roundRect">
            <a:avLst>
              <a:gd name="adj" fmla="val 6000"/>
            </a:avLst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03720" y="20116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  <a:latin typeface="Calibri"/>
              </a:rPr>
              <a:t>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28346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Banco de
Dados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34747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Armazenamento
de informações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1828800"/>
            <a:ext cx="1920240" cy="2926080"/>
          </a:xfrm>
          <a:prstGeom prst="roundRect">
            <a:avLst>
              <a:gd name="adj" fmla="val 6000"/>
            </a:avLst>
          </a:prstGeom>
          <a:solidFill>
            <a:srgbClr val="F0A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52560" y="20116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  <a:latin typeface="Calibri"/>
              </a:rPr>
              <a:t>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8346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Nuvem OCI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34747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Servidor
remoto seguro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404872" y="3017520"/>
            <a:ext cx="182880" cy="228600"/>
          </a:xfrm>
          <a:prstGeom prst="rightArrow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ight Arrow 27"/>
          <p:cNvSpPr/>
          <p:nvPr/>
        </p:nvSpPr>
        <p:spPr>
          <a:xfrm>
            <a:off x="4553712" y="3017520"/>
            <a:ext cx="182880" cy="228600"/>
          </a:xfrm>
          <a:prstGeom prst="rightArrow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ight Arrow 28"/>
          <p:cNvSpPr/>
          <p:nvPr/>
        </p:nvSpPr>
        <p:spPr>
          <a:xfrm>
            <a:off x="6702552" y="3017520"/>
            <a:ext cx="182880" cy="228600"/>
          </a:xfrm>
          <a:prstGeom prst="rightArrow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ight Arrow 29"/>
          <p:cNvSpPr/>
          <p:nvPr/>
        </p:nvSpPr>
        <p:spPr>
          <a:xfrm>
            <a:off x="8851392" y="3017520"/>
            <a:ext cx="182880" cy="228600"/>
          </a:xfrm>
          <a:prstGeom prst="rightArrow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2606040" y="5029200"/>
            <a:ext cx="685800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679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43200" y="507492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6796A"/>
                </a:solidFill>
                <a:latin typeface="Calibri"/>
              </a:rPr>
              <a:t>🌍  Domínio:  sistema.minhainstituicao.com.br  →  aponta para o servidor na nuvem via DNS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1463040"/>
            <a:ext cx="11338560" cy="3566160"/>
          </a:xfrm>
          <a:prstGeom prst="rect">
            <a:avLst/>
          </a:prstGeom>
          <a:noFill/>
          <a:ln w="1270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606040" y="13258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E99AA"/>
                </a:solidFill>
                <a:latin typeface="Calibri"/>
              </a:rPr>
              <a:t>AMBIENTE DA NUVEM (OCI)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492240"/>
            <a:ext cx="457200" cy="27432"/>
          </a:xfrm>
          <a:prstGeom prst="rect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E99AA"/>
                </a:solidFill>
                <a:latin typeface="Calibri"/>
              </a:rPr>
              <a:t>Casa Assistencial · Arquitetura Geral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1234440"/>
          </a:xfrm>
          <a:prstGeom prst="rect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Oracle Cloud Infrastructure (OCI)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B595"/>
                </a:solidFill>
                <a:latin typeface="Calibri"/>
              </a:rPr>
              <a:t>A plataforma de nuvem onde o sistema está hospedado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11247120" cy="914400"/>
          </a:xfrm>
          <a:prstGeom prst="roundRect">
            <a:avLst>
              <a:gd name="adj" fmla="val 6000"/>
            </a:avLst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7276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☁  Oracle Cloud Infrastructure  —  Uma das maiores nuvens do mundo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06040"/>
            <a:ext cx="356616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606040"/>
            <a:ext cx="3566160" cy="64008"/>
          </a:xfrm>
          <a:prstGeom prst="rect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6974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796A"/>
                </a:solidFill>
                <a:latin typeface="Calibri"/>
              </a:rPr>
              <a:t>🆓 Always Free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546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• Até 4 processadores (OCPU)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930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• Até 24 GB de memória 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3133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• 200 GB de armazenamento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6966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• 10 TB de transferência/mês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0799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• Banco de dados grátis incluído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• Nunca expira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2606040"/>
            <a:ext cx="356616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97680" y="2606040"/>
            <a:ext cx="3566160" cy="64008"/>
          </a:xfrm>
          <a:prstGeom prst="rect">
            <a:avLst/>
          </a:prstGeom>
          <a:solidFill>
            <a:srgbClr val="21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34840" y="26974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4F7E"/>
                </a:solidFill>
                <a:latin typeface="Calibri"/>
              </a:rPr>
              <a:t>💰 Custo Controlado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546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• Paga somente pelo que usar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4930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• Sem contrato de fidelidade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83133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• Pode cancelar a qualquer momento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16966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• Previsibilidade de gastos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50799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• Créditos iniciais disponíveis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8463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• Upgrade simples quando necessário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2606040"/>
            <a:ext cx="356616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38160" y="2606040"/>
            <a:ext cx="3566160" cy="6400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75320" y="26974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  <a:latin typeface="Calibri"/>
              </a:rPr>
              <a:t>🔒 Segurança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1546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• Data centers certificados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4930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• Backups automáticos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83133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• Proteção contra ataques DDoS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16966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• Criptografia dos dados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50799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• Conformidade com padrões globais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8463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• Monitoramento 24 horas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492240"/>
            <a:ext cx="457200" cy="27432"/>
          </a:xfrm>
          <a:prstGeom prst="rect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E99AA"/>
                </a:solidFill>
                <a:latin typeface="Calibri"/>
              </a:rPr>
              <a:t>Casa Assistencial · Oracle Cloud Infrastructure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1234440"/>
          </a:xfrm>
          <a:prstGeom prst="rect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 que é um Domínio?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B595"/>
                </a:solidFill>
                <a:latin typeface="Calibri"/>
              </a:rPr>
              <a:t>O endereço personalizado pelo qual o sistema é acessado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11247120" cy="1417320"/>
          </a:xfrm>
          <a:prstGeom prst="roundRect">
            <a:avLst>
              <a:gd name="adj" fmla="val 6000"/>
            </a:avLst>
          </a:prstGeom>
          <a:solidFill>
            <a:srgbClr val="D4EDE9"/>
          </a:solidFill>
          <a:ln w="12700">
            <a:solidFill>
              <a:srgbClr val="1679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1280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16796A"/>
                </a:solidFill>
                <a:latin typeface="Calibri"/>
              </a:rPr>
              <a:t>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508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796A"/>
                </a:solidFill>
                <a:latin typeface="Calibri"/>
              </a:rPr>
              <a:t>Analogia: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2880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  <a:latin typeface="Calibri"/>
              </a:rPr>
              <a:t>O domínio é como o endereço de uma casa. Em vez de memorizar um número complicado (ex: 192.168.1.45), você usa um nome fácil como  sistema.suainstituicao.com.br.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  <a:latin typeface="Calibri"/>
              </a:rPr>
              <a:t>Exemplos de domínio: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520440"/>
            <a:ext cx="1124712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3520440"/>
            <a:ext cx="64008" cy="731520"/>
          </a:xfrm>
          <a:prstGeom prst="rect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566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796A"/>
                </a:solidFill>
                <a:latin typeface="Calibri"/>
              </a:rPr>
              <a:t>🌐  sistema.casaassistencial.org.br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90448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9AA"/>
                </a:solidFill>
                <a:latin typeface="Calibri"/>
              </a:rPr>
              <a:t>Domínio .org.br para organizações sem fins lucrativos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361688"/>
            <a:ext cx="1124712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4361688"/>
            <a:ext cx="64008" cy="731520"/>
          </a:xfrm>
          <a:prstGeom prst="rect">
            <a:avLst/>
          </a:prstGeom>
          <a:solidFill>
            <a:srgbClr val="21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40740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4F7E"/>
                </a:solidFill>
                <a:latin typeface="Calibri"/>
              </a:rPr>
              <a:t>🌐  gestao.casaassistencial.com.br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74573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9AA"/>
                </a:solidFill>
                <a:latin typeface="Calibri"/>
              </a:rPr>
              <a:t>Domínio .com.br mais comum para empresas brasileiras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202936"/>
            <a:ext cx="1124712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5202936"/>
            <a:ext cx="64008" cy="731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524865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E4A"/>
                </a:solidFill>
                <a:latin typeface="Calibri"/>
              </a:rPr>
              <a:t>🌐  casaassistencial.com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586984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9AA"/>
                </a:solidFill>
                <a:latin typeface="Calibri"/>
              </a:rPr>
              <a:t>Domínio internacional .com (aceito no Brasil também)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309360"/>
            <a:ext cx="11247120" cy="365760"/>
          </a:xfrm>
          <a:prstGeom prst="roundRect">
            <a:avLst>
              <a:gd name="adj" fmla="val 6000"/>
            </a:avLst>
          </a:prstGeom>
          <a:solidFill>
            <a:srgbClr val="F0A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6336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4A"/>
                </a:solidFill>
                <a:latin typeface="Calibri"/>
              </a:rPr>
              <a:t>💰  Custo típico: domínio .com.br ≈ R$ 40/ano via Registro.br  |  domínio .com ≈ R$ 60/ano via Cloudflare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6492240"/>
            <a:ext cx="457200" cy="27432"/>
          </a:xfrm>
          <a:prstGeom prst="rect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E99AA"/>
                </a:solidFill>
                <a:latin typeface="Calibri"/>
              </a:rPr>
              <a:t>Casa Assistencial · Domínio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1234440"/>
          </a:xfrm>
          <a:prstGeom prst="rect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DNS e HTTPS — Endereço e Segurança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B595"/>
                </a:solidFill>
                <a:latin typeface="Calibri"/>
              </a:rPr>
              <a:t>Como o sistema encontra o servidor certo e protege os dados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394960" cy="502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5394960" cy="64008"/>
          </a:xfrm>
          <a:prstGeom prst="rect">
            <a:avLst/>
          </a:prstGeom>
          <a:solidFill>
            <a:srgbClr val="21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554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E4A"/>
                </a:solidFill>
                <a:latin typeface="Calibri"/>
              </a:rPr>
              <a:t>🔍  DNS — Sistema de Nomes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574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4F7E"/>
                </a:solidFill>
                <a:latin typeface="Calibri"/>
              </a:rPr>
              <a:t>O que é: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7744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Funciona como a agenda telefônica da internet. Quando você digita um endereço, o DNS encontra o número (IP) correspondente ao servidor correto.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29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4F7E"/>
                </a:solidFill>
                <a:latin typeface="Calibri"/>
              </a:rPr>
              <a:t>Como funciona: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7947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1. Você digita:  sistema.instituicao.com.br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4223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2. O DNS consulta:  onde está esse endereço?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48970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3. Responde:  está no servidor 129.148.49.83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83717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4. Seu navegador abre o sistema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5806440"/>
            <a:ext cx="5029200" cy="411480"/>
          </a:xfrm>
          <a:prstGeom prst="roundRect">
            <a:avLst>
              <a:gd name="adj" fmla="val 6000"/>
            </a:avLst>
          </a:prstGeom>
          <a:solidFill>
            <a:srgbClr val="D4EDE9"/>
          </a:solidFill>
          <a:ln w="12700">
            <a:solidFill>
              <a:srgbClr val="1679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5852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796A"/>
                </a:solidFill>
                <a:latin typeface="Calibri"/>
              </a:rPr>
              <a:t>✓  Cloudflare oferece DNS gratuito e muito rápido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463040"/>
            <a:ext cx="5394960" cy="502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60" y="1463040"/>
            <a:ext cx="5394960" cy="64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1554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E4A"/>
                </a:solidFill>
                <a:latin typeface="Calibri"/>
              </a:rPr>
              <a:t>🔒  HTTPS — Conexão Segura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0574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  <a:latin typeface="Calibri"/>
              </a:rPr>
              <a:t>O que é: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37744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O HTTPS garante que os dados trocados entre o usuário e o servidor sejam criptografados — ninguém consegue interceptar senhas, prontuários ou informações de pacientes.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429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  <a:latin typeface="Calibri"/>
              </a:rPr>
              <a:t>Vantagens: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7947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🔐  Dados criptografados de ponta a ponta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1422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✅  Cadeado verde no navegador (confiança)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48970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🏆  Melhor posicionamento em buscas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83717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🚫  Proteção contra interceptação de dados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5806440"/>
            <a:ext cx="5029200" cy="411480"/>
          </a:xfrm>
          <a:prstGeom prst="roundRect">
            <a:avLst>
              <a:gd name="adj" fmla="val 6000"/>
            </a:avLst>
          </a:prstGeom>
          <a:solidFill>
            <a:srgbClr val="D5F5E3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0" y="5852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Calibri"/>
              </a:rPr>
              <a:t>✓  Cloudflare oferece certificado HTTPS completamente grátis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92240"/>
            <a:ext cx="457200" cy="27432"/>
          </a:xfrm>
          <a:prstGeom prst="rect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E99AA"/>
                </a:solidFill>
                <a:latin typeface="Calibri"/>
              </a:rPr>
              <a:t>Casa Assistencial · DNS e HTTPS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1234440"/>
          </a:xfrm>
          <a:prstGeom prst="rect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Fluxo Completo de Acesso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B595"/>
                </a:solidFill>
                <a:latin typeface="Calibri"/>
              </a:rPr>
              <a:t>Da digitação do endereço até a exibição das informações na tela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2103120"/>
            <a:ext cx="1920240" cy="3017520"/>
          </a:xfrm>
          <a:prstGeom prst="roundRect">
            <a:avLst>
              <a:gd name="adj" fmla="val 6000"/>
            </a:avLst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0120" y="187452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6796A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42316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Usuário digita
o endereço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2004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Ex: sistema.
instituicao.com.br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2103120"/>
            <a:ext cx="1920240" cy="3017520"/>
          </a:xfrm>
          <a:prstGeom prst="roundRect">
            <a:avLst>
              <a:gd name="adj" fmla="val 6000"/>
            </a:avLst>
          </a:prstGeom>
          <a:solidFill>
            <a:srgbClr val="21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108960" y="187452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08960" y="18288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14F7E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42316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DNS encontra
o servidor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2004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Aponta para
IP na OCI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2103120"/>
            <a:ext cx="1920240" cy="3017520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257800" y="187452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57800" y="18288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242316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HTTPS
criptografa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2004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Conexão segura
estabelecida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0" y="2103120"/>
            <a:ext cx="1920240" cy="3017520"/>
          </a:xfrm>
          <a:prstGeom prst="roundRect">
            <a:avLst>
              <a:gd name="adj" fmla="val 6000"/>
            </a:avLst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406640" y="187452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06640" y="18288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E4A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42316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Servidor
responde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2004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Frontend
carregado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15400" y="2103120"/>
            <a:ext cx="1920240" cy="3017520"/>
          </a:xfrm>
          <a:prstGeom prst="roundRect">
            <a:avLst>
              <a:gd name="adj" fmla="val 6000"/>
            </a:avLst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555480" y="187452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55480" y="18288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E44AD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242316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Dados
buscados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32004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Backend + Banco
de Dados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2286000" y="3383280"/>
            <a:ext cx="502920" cy="256032"/>
          </a:xfrm>
          <a:prstGeom prst="rightArrow">
            <a:avLst/>
          </a:prstGeom>
          <a:solidFill>
            <a:srgbClr val="F0A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ight Arrow 32"/>
          <p:cNvSpPr/>
          <p:nvPr/>
        </p:nvSpPr>
        <p:spPr>
          <a:xfrm>
            <a:off x="4434840" y="3383280"/>
            <a:ext cx="502920" cy="256032"/>
          </a:xfrm>
          <a:prstGeom prst="rightArrow">
            <a:avLst/>
          </a:prstGeom>
          <a:solidFill>
            <a:srgbClr val="F0A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ight Arrow 33"/>
          <p:cNvSpPr/>
          <p:nvPr/>
        </p:nvSpPr>
        <p:spPr>
          <a:xfrm>
            <a:off x="6583680" y="3383280"/>
            <a:ext cx="502920" cy="256032"/>
          </a:xfrm>
          <a:prstGeom prst="rightArrow">
            <a:avLst/>
          </a:prstGeom>
          <a:solidFill>
            <a:srgbClr val="F0A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ight Arrow 34"/>
          <p:cNvSpPr/>
          <p:nvPr/>
        </p:nvSpPr>
        <p:spPr>
          <a:xfrm>
            <a:off x="8732520" y="3383280"/>
            <a:ext cx="502920" cy="256032"/>
          </a:xfrm>
          <a:prstGeom prst="rightArrow">
            <a:avLst/>
          </a:prstGeom>
          <a:solidFill>
            <a:srgbClr val="F0A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1828800" y="5577840"/>
            <a:ext cx="8503920" cy="594360"/>
          </a:xfrm>
          <a:prstGeom prst="roundRect">
            <a:avLst>
              <a:gd name="adj" fmla="val 6000"/>
            </a:avLst>
          </a:prstGeom>
          <a:solidFill>
            <a:srgbClr val="D4EDE9"/>
          </a:solidFill>
          <a:ln w="12700">
            <a:solidFill>
              <a:srgbClr val="1679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011680" y="56509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6796A"/>
                </a:solidFill>
                <a:latin typeface="Calibri"/>
              </a:rPr>
              <a:t>⏱  Todo este processo acontece em menos de 1 segundo. O usuário vê as informações quase instantaneamente.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492240"/>
            <a:ext cx="457200" cy="27432"/>
          </a:xfrm>
          <a:prstGeom prst="rect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E99AA"/>
                </a:solidFill>
                <a:latin typeface="Calibri"/>
              </a:rPr>
              <a:t>Casa Assistencial · Fluxo de Acesso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1234440"/>
          </a:xfrm>
          <a:prstGeom prst="rect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Infraestrutura Recomendada para o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B595"/>
                </a:solidFill>
                <a:latin typeface="Calibri"/>
              </a:rPr>
              <a:t>Componentes necessários para o sistema funcionar em produção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63040"/>
            <a:ext cx="356616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3566160" cy="64008"/>
          </a:xfrm>
          <a:prstGeom prst="rect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796A"/>
                </a:solidFill>
                <a:latin typeface="Calibri"/>
              </a:rPr>
              <a:t>🖥 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E99AA"/>
                </a:solidFill>
                <a:latin typeface="Calibri"/>
              </a:rPr>
              <a:t>Interface visual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860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Servidor Nginx
nuvem OCI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063240"/>
            <a:ext cx="3383280" cy="365760"/>
          </a:xfrm>
          <a:prstGeom prst="roundRect">
            <a:avLst>
              <a:gd name="adj" fmla="val 6000"/>
            </a:avLst>
          </a:prstGeom>
          <a:solidFill>
            <a:srgbClr val="D4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30906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  <a:latin typeface="Calibri"/>
              </a:rPr>
              <a:t>💰 Incluso na nuvem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463040"/>
            <a:ext cx="356616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79392" y="1463040"/>
            <a:ext cx="3566160" cy="64008"/>
          </a:xfrm>
          <a:prstGeom prst="rect">
            <a:avLst/>
          </a:prstGeom>
          <a:solidFill>
            <a:srgbClr val="21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16552" y="15544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4F7E"/>
                </a:solidFill>
                <a:latin typeface="Calibri"/>
              </a:rPr>
              <a:t>⚙ 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1965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E99AA"/>
                </a:solidFill>
                <a:latin typeface="Calibri"/>
              </a:rPr>
              <a:t>Motor do sistema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22860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FastAPI + Python
servidor OCI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2" y="3063240"/>
            <a:ext cx="3383280" cy="365760"/>
          </a:xfrm>
          <a:prstGeom prst="roundRect">
            <a:avLst>
              <a:gd name="adj" fmla="val 6000"/>
            </a:avLst>
          </a:prstGeom>
          <a:solidFill>
            <a:srgbClr val="D4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16552" y="30906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  <a:latin typeface="Calibri"/>
              </a:rPr>
              <a:t>💰 Incluso na nuvem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93024" y="1463040"/>
            <a:ext cx="356616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93024" y="1463040"/>
            <a:ext cx="3566160" cy="6400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30184" y="15544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E4A"/>
                </a:solidFill>
                <a:latin typeface="Calibri"/>
              </a:rPr>
              <a:t>🗄 Banco de Dados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4" y="1965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E99AA"/>
                </a:solidFill>
                <a:latin typeface="Calibri"/>
              </a:rPr>
              <a:t>Armazenamento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0184" y="22860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PostgreSQL
no servidor OCI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84464" y="3063240"/>
            <a:ext cx="3383280" cy="365760"/>
          </a:xfrm>
          <a:prstGeom prst="roundRect">
            <a:avLst>
              <a:gd name="adj" fmla="val 6000"/>
            </a:avLst>
          </a:prstGeom>
          <a:solidFill>
            <a:srgbClr val="D4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30184" y="30906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  <a:latin typeface="Calibri"/>
              </a:rPr>
              <a:t>💰 Incluso na nuvem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3931920"/>
            <a:ext cx="356616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65760" y="3931920"/>
            <a:ext cx="3566160" cy="64008"/>
          </a:xfrm>
          <a:prstGeom prst="rect">
            <a:avLst/>
          </a:prstGeom>
          <a:solidFill>
            <a:srgbClr val="F0A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40233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30A"/>
                </a:solidFill>
                <a:latin typeface="Calibri"/>
              </a:rPr>
              <a:t>🌐 Domínio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4348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E99AA"/>
                </a:solidFill>
                <a:latin typeface="Calibri"/>
              </a:rPr>
              <a:t>Endereço web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75488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Registro.br (.com.br)
ou Cloudflare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532120"/>
            <a:ext cx="3383280" cy="365760"/>
          </a:xfrm>
          <a:prstGeom prst="roundRect">
            <a:avLst>
              <a:gd name="adj" fmla="val 6000"/>
            </a:avLst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555955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A30A"/>
                </a:solidFill>
                <a:latin typeface="Calibri"/>
              </a:rPr>
              <a:t>💰 ≈ R$ 40–60/ano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79392" y="3931920"/>
            <a:ext cx="356616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279392" y="3931920"/>
            <a:ext cx="3566160" cy="64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16552" y="40233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  <a:latin typeface="Calibri"/>
              </a:rPr>
              <a:t>🔒 DNS + HTTPS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16552" y="44348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E99AA"/>
                </a:solidFill>
                <a:latin typeface="Calibri"/>
              </a:rPr>
              <a:t>Segurança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16552" y="475488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Cloudflare Free
certificado grátis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70832" y="5532120"/>
            <a:ext cx="3383280" cy="365760"/>
          </a:xfrm>
          <a:prstGeom prst="roundRect">
            <a:avLst>
              <a:gd name="adj" fmla="val 6000"/>
            </a:avLst>
          </a:prstGeom>
          <a:solidFill>
            <a:srgbClr val="D4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416552" y="555955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  <a:latin typeface="Calibri"/>
              </a:rPr>
              <a:t>💰 GRATUITO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93024" y="3931920"/>
            <a:ext cx="356616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193024" y="3931920"/>
            <a:ext cx="3566160" cy="64008"/>
          </a:xfrm>
          <a:prstGeom prst="rect">
            <a:avLst/>
          </a:prstGeom>
          <a:solidFill>
            <a:srgbClr val="8E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30184" y="40233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A4A"/>
                </a:solidFill>
                <a:latin typeface="Calibri"/>
              </a:rPr>
              <a:t>📧 E-mail (futuro)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0184" y="44348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E99AA"/>
                </a:solidFill>
                <a:latin typeface="Calibri"/>
              </a:rPr>
              <a:t>Notificações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30184" y="475488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SendGrid ou
SES Amazon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84464" y="5532120"/>
            <a:ext cx="3383280" cy="365760"/>
          </a:xfrm>
          <a:prstGeom prst="roundRect">
            <a:avLst>
              <a:gd name="adj" fmla="val 6000"/>
            </a:avLst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330184" y="555955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A30A"/>
                </a:solidFill>
                <a:latin typeface="Calibri"/>
              </a:rPr>
              <a:t>💰 ≈ R$ 20–50/mês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6492240"/>
            <a:ext cx="457200" cy="27432"/>
          </a:xfrm>
          <a:prstGeom prst="rect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E99AA"/>
                </a:solidFill>
                <a:latin typeface="Calibri"/>
              </a:rPr>
              <a:t>Casa Assistencial · Infraestrutura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1234440"/>
          </a:xfrm>
          <a:prstGeom prst="rect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Pesquisa de Custos Reais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B595"/>
                </a:solidFill>
                <a:latin typeface="Calibri"/>
              </a:rPr>
              <a:t>Valores levantados em maio de 2026 · Cotação: US$ 1 = R$ 5,70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63040"/>
            <a:ext cx="356616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3566160" cy="64008"/>
          </a:xfrm>
          <a:prstGeom prst="rect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796A"/>
                </a:solidFill>
                <a:latin typeface="Calibri"/>
              </a:rPr>
              <a:t>🌐 Domínio .com.br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3852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E99AA"/>
                </a:solidFill>
                <a:latin typeface="Calibri"/>
              </a:rPr>
              <a:t>Fonte: Registro.br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12848"/>
            <a:ext cx="3383280" cy="640080"/>
          </a:xfrm>
          <a:prstGeom prst="roundRect">
            <a:avLst>
              <a:gd name="adj" fmla="val 6000"/>
            </a:avLst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2402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A30A"/>
                </a:solidFill>
                <a:latin typeface="Calibri"/>
              </a:rPr>
              <a:t>R$ 40,00/ano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9260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  <a:latin typeface="Calibri"/>
              </a:rPr>
              <a:t>Registro oficial de domínios brasileiros.
Preço fixo sem taxas adicionais.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5661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E99AA"/>
                </a:solidFill>
                <a:latin typeface="Calibri"/>
              </a:rPr>
              <a:t>registro.br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9392" y="1463040"/>
            <a:ext cx="356616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79392" y="1463040"/>
            <a:ext cx="3566160" cy="64008"/>
          </a:xfrm>
          <a:prstGeom prst="rect">
            <a:avLst/>
          </a:prstGeom>
          <a:solidFill>
            <a:srgbClr val="21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16552" y="15544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4F7E"/>
                </a:solidFill>
                <a:latin typeface="Calibri"/>
              </a:rPr>
              <a:t>🌐 Domínio 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193852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E99AA"/>
                </a:solidFill>
                <a:latin typeface="Calibri"/>
              </a:rPr>
              <a:t>Fonte: Cloudflare Registrar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2" y="2212848"/>
            <a:ext cx="3383280" cy="640080"/>
          </a:xfrm>
          <a:prstGeom prst="roundRect">
            <a:avLst>
              <a:gd name="adj" fmla="val 6000"/>
            </a:avLst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16552" y="22402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A30A"/>
                </a:solidFill>
                <a:latin typeface="Calibri"/>
              </a:rPr>
              <a:t>US$ 10-12/ano
≈ R$ 57-68/ano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2" y="29260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  <a:latin typeface="Calibri"/>
              </a:rPr>
              <a:t>Sem markup — só o custo real de
registro. DNS grátis incluso.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35661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E99AA"/>
                </a:solidFill>
                <a:latin typeface="Calibri"/>
              </a:rPr>
              <a:t>cloudflare.com/products/registrar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93024" y="1463040"/>
            <a:ext cx="356616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93024" y="1463040"/>
            <a:ext cx="3566160" cy="64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30184" y="15544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🔒 SSL (HTTPS)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0184" y="193852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E99AA"/>
                </a:solidFill>
                <a:latin typeface="Calibri"/>
              </a:rPr>
              <a:t>Fonte: Cloudflare Free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84464" y="2212848"/>
            <a:ext cx="3383280" cy="640080"/>
          </a:xfrm>
          <a:prstGeom prst="roundRect">
            <a:avLst>
              <a:gd name="adj" fmla="val 6000"/>
            </a:avLst>
          </a:prstGeom>
          <a:solidFill>
            <a:srgbClr val="D4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30184" y="22402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7AE60"/>
                </a:solidFill>
                <a:latin typeface="Calibri"/>
              </a:rPr>
              <a:t>GRATUITO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0184" y="29260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  <a:latin typeface="Calibri"/>
              </a:rPr>
              <a:t>Certificado HTTPS automático.
Renovado automaticamente.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0184" y="35661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E99AA"/>
                </a:solidFill>
                <a:latin typeface="Calibri"/>
              </a:rPr>
              <a:t>cloudflare.com/ssl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023360"/>
            <a:ext cx="356616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65760" y="4023360"/>
            <a:ext cx="3566160" cy="64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411480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📡 DNS Gerenciado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49884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E99AA"/>
                </a:solidFill>
                <a:latin typeface="Calibri"/>
              </a:rPr>
              <a:t>Fonte: Cloudflare Free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773168"/>
            <a:ext cx="3383280" cy="640080"/>
          </a:xfrm>
          <a:prstGeom prst="roundRect">
            <a:avLst>
              <a:gd name="adj" fmla="val 6000"/>
            </a:avLst>
          </a:prstGeom>
          <a:solidFill>
            <a:srgbClr val="D4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" y="480060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7AE60"/>
                </a:solidFill>
                <a:latin typeface="Calibri"/>
              </a:rPr>
              <a:t>GRATUITO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4864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  <a:latin typeface="Calibri"/>
              </a:rPr>
              <a:t>DNS ultrarrápido com proteção
contra ataques DDoS inclusa.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1264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E99AA"/>
                </a:solidFill>
                <a:latin typeface="Calibri"/>
              </a:rPr>
              <a:t>cloudflare.com/dns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79392" y="4023360"/>
            <a:ext cx="356616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279392" y="4023360"/>
            <a:ext cx="3566160" cy="64008"/>
          </a:xfrm>
          <a:prstGeom prst="rect">
            <a:avLst/>
          </a:prstGeom>
          <a:solidFill>
            <a:srgbClr val="F0A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416552" y="411480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A30A"/>
                </a:solidFill>
                <a:latin typeface="Calibri"/>
              </a:rPr>
              <a:t>☁ Nuvem (Always Free)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16552" y="449884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E99AA"/>
                </a:solidFill>
                <a:latin typeface="Calibri"/>
              </a:rPr>
              <a:t>Fonte: Oracle OCI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70832" y="4773168"/>
            <a:ext cx="3383280" cy="640080"/>
          </a:xfrm>
          <a:prstGeom prst="roundRect">
            <a:avLst>
              <a:gd name="adj" fmla="val 6000"/>
            </a:avLst>
          </a:prstGeom>
          <a:solidFill>
            <a:srgbClr val="D4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416552" y="480060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7AE60"/>
                </a:solidFill>
                <a:latin typeface="Calibri"/>
              </a:rPr>
              <a:t>GRATUITO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16552" y="54864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  <a:latin typeface="Calibri"/>
              </a:rPr>
              <a:t>4 OCPU + 24 GB RAM + 200 GB disco.
Suficiente para o sistema atual.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16552" y="61264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E99AA"/>
                </a:solidFill>
                <a:latin typeface="Calibri"/>
              </a:rPr>
              <a:t>oracle.com/cloud/free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93024" y="4023360"/>
            <a:ext cx="356616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193024" y="4023360"/>
            <a:ext cx="3566160" cy="6400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30184" y="411480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  <a:latin typeface="Calibri"/>
              </a:rPr>
              <a:t>☁ Nuvem (Pago básico)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30184" y="449884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E99AA"/>
                </a:solidFill>
                <a:latin typeface="Calibri"/>
              </a:rPr>
              <a:t>Fonte: Oracle OCI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84464" y="4773168"/>
            <a:ext cx="3383280" cy="640080"/>
          </a:xfrm>
          <a:prstGeom prst="roundRect">
            <a:avLst>
              <a:gd name="adj" fmla="val 6000"/>
            </a:avLst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330184" y="480060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A30A"/>
                </a:solidFill>
                <a:latin typeface="Calibri"/>
              </a:rPr>
              <a:t>≈ US$ 18-20/mês
≈ R$ 102-114/mês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30184" y="54864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  <a:latin typeface="Calibri"/>
              </a:rPr>
              <a:t>Se precisar de mais recursos.
Upgrade simples sem contrato.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30184" y="61264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E99AA"/>
                </a:solidFill>
                <a:latin typeface="Calibri"/>
              </a:rPr>
              <a:t>oracle.com/cloud/pricing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6492240"/>
            <a:ext cx="457200" cy="27432"/>
          </a:xfrm>
          <a:prstGeom prst="rect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E99AA"/>
                </a:solidFill>
                <a:latin typeface="Calibri"/>
              </a:rPr>
              <a:t>Casa Assistencial · Pesquisa de Custos · Fonte: Cloudflare, Oracle, Registro.br — Maio/2026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1234440"/>
          </a:xfrm>
          <a:prstGeom prst="rect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Comparativo de Custos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B595"/>
                </a:solidFill>
                <a:latin typeface="Calibri"/>
              </a:rPr>
              <a:t>Visão consolidada de todos os serviços necessários · valores em reais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9508189"/>
              </p:ext>
            </p:extLst>
          </p:nvPr>
        </p:nvGraphicFramePr>
        <p:xfrm>
          <a:off x="365760" y="1463040"/>
          <a:ext cx="11795759" cy="3285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377440"/>
                <a:gridCol w="1737360"/>
                <a:gridCol w="1737360"/>
                <a:gridCol w="3749039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Serviço</a:t>
                      </a:r>
                      <a:endParaRPr sz="11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679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Função</a:t>
                      </a:r>
                    </a:p>
                  </a:txBody>
                  <a:tcPr>
                    <a:solidFill>
                      <a:srgbClr val="1679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Custo Mensal</a:t>
                      </a:r>
                    </a:p>
                  </a:txBody>
                  <a:tcPr>
                    <a:solidFill>
                      <a:srgbClr val="1679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Custo Anual</a:t>
                      </a:r>
                    </a:p>
                  </a:txBody>
                  <a:tcPr>
                    <a:solidFill>
                      <a:srgbClr val="1679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Observações</a:t>
                      </a:r>
                    </a:p>
                  </a:txBody>
                  <a:tcPr>
                    <a:solidFill>
                      <a:srgbClr val="16796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3A4A"/>
                          </a:solidFill>
                          <a:latin typeface="Calibri"/>
                        </a:rPr>
                        <a:t>Domínio .com.br</a:t>
                      </a:r>
                    </a:p>
                    <a:p>
                      <a:r>
                        <a:rPr sz="1100">
                          <a:solidFill>
                            <a:srgbClr val="2D3A4A"/>
                          </a:solidFill>
                          <a:latin typeface="Calibri"/>
                        </a:rPr>
                        <a:t>(Registro.br)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3A4A"/>
                          </a:solidFill>
                          <a:latin typeface="Calibri"/>
                        </a:rPr>
                        <a:t>Endereço do sistema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3A4A"/>
                          </a:solidFill>
                          <a:latin typeface="Calibri"/>
                        </a:rPr>
                        <a:t>R$ 3,33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3A4A"/>
                          </a:solidFill>
                          <a:latin typeface="Calibri"/>
                        </a:rPr>
                        <a:t>R$ 40,00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3A4A"/>
                          </a:solidFill>
                          <a:latin typeface="Calibri"/>
                        </a:rPr>
                        <a:t>Renovação anual automática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3A4A"/>
                          </a:solidFill>
                          <a:latin typeface="Calibri"/>
                        </a:rPr>
                        <a:t>DNS</a:t>
                      </a:r>
                    </a:p>
                    <a:p>
                      <a:r>
                        <a:rPr sz="1100">
                          <a:solidFill>
                            <a:srgbClr val="2D3A4A"/>
                          </a:solidFill>
                          <a:latin typeface="Calibri"/>
                        </a:rPr>
                        <a:t>(Cloudflare Free)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3A4A"/>
                          </a:solidFill>
                          <a:latin typeface="Calibri"/>
                        </a:rPr>
                        <a:t>Roteamento do endereço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3A4A"/>
                          </a:solidFill>
                          <a:latin typeface="Calibri"/>
                        </a:rPr>
                        <a:t>GRÁTIS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3A4A"/>
                          </a:solidFill>
                          <a:latin typeface="Calibri"/>
                        </a:rPr>
                        <a:t>GRÁTIS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3A4A"/>
                          </a:solidFill>
                          <a:latin typeface="Calibri"/>
                        </a:rPr>
                        <a:t>Plano gratuito para sempre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3A4A"/>
                          </a:solidFill>
                          <a:latin typeface="Calibri"/>
                        </a:rPr>
                        <a:t>Certificado HTTPS</a:t>
                      </a:r>
                    </a:p>
                    <a:p>
                      <a:r>
                        <a:rPr sz="1100">
                          <a:solidFill>
                            <a:srgbClr val="2D3A4A"/>
                          </a:solidFill>
                          <a:latin typeface="Calibri"/>
                        </a:rPr>
                        <a:t>(Cloudflare)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3A4A"/>
                          </a:solidFill>
                          <a:latin typeface="Calibri"/>
                        </a:rPr>
                        <a:t>Segurança e criptografia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3A4A"/>
                          </a:solidFill>
                          <a:latin typeface="Calibri"/>
                        </a:rPr>
                        <a:t>GRÁTIS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3A4A"/>
                          </a:solidFill>
                          <a:latin typeface="Calibri"/>
                        </a:rPr>
                        <a:t>GRÁTIS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3A4A"/>
                          </a:solidFill>
                          <a:latin typeface="Calibri"/>
                        </a:rPr>
                        <a:t>Renovação automática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3A4A"/>
                          </a:solidFill>
                          <a:latin typeface="Calibri"/>
                        </a:rPr>
                        <a:t>Servidor OCI</a:t>
                      </a:r>
                    </a:p>
                    <a:p>
                      <a:r>
                        <a:rPr sz="1100">
                          <a:solidFill>
                            <a:srgbClr val="2D3A4A"/>
                          </a:solidFill>
                          <a:latin typeface="Calibri"/>
                        </a:rPr>
                        <a:t>(Always Free)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3A4A"/>
                          </a:solidFill>
                          <a:latin typeface="Calibri"/>
                        </a:rPr>
                        <a:t>Hospedar o sistema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smtClean="0">
                          <a:solidFill>
                            <a:srgbClr val="2D3A4A"/>
                          </a:solidFill>
                          <a:latin typeface="Calibri"/>
                        </a:rPr>
                        <a:t>R$</a:t>
                      </a:r>
                      <a:r>
                        <a:rPr lang="pt-BR" sz="1100" baseline="0" dirty="0" smtClean="0">
                          <a:solidFill>
                            <a:srgbClr val="2D3A4A"/>
                          </a:solidFill>
                          <a:latin typeface="Calibri"/>
                        </a:rPr>
                        <a:t> 6,00</a:t>
                      </a:r>
                      <a:endParaRPr sz="1100" dirty="0">
                        <a:solidFill>
                          <a:srgbClr val="2D3A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smtClean="0">
                          <a:solidFill>
                            <a:srgbClr val="2D3A4A"/>
                          </a:solidFill>
                          <a:latin typeface="Calibri"/>
                        </a:rPr>
                        <a:t>R$72,00</a:t>
                      </a:r>
                      <a:endParaRPr sz="1100" dirty="0">
                        <a:solidFill>
                          <a:srgbClr val="2D3A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3A4A"/>
                          </a:solidFill>
                          <a:latin typeface="Calibri"/>
                        </a:rPr>
                        <a:t>4 OCPU + 24GB RAM + 200GB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2D3A4A"/>
                          </a:solidFill>
                          <a:latin typeface="Calibri"/>
                        </a:rPr>
                        <a:t>TOTAL — </a:t>
                      </a:r>
                      <a:r>
                        <a:rPr sz="1100" dirty="0" err="1">
                          <a:solidFill>
                            <a:srgbClr val="2D3A4A"/>
                          </a:solidFill>
                          <a:latin typeface="Calibri"/>
                        </a:rPr>
                        <a:t>Cenário</a:t>
                      </a:r>
                      <a:r>
                        <a:rPr sz="1100" dirty="0">
                          <a:solidFill>
                            <a:srgbClr val="2D3A4A"/>
                          </a:solidFill>
                          <a:latin typeface="Calibri"/>
                        </a:rPr>
                        <a:t> Free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2D3A4A"/>
                          </a:solidFill>
                          <a:latin typeface="Calibri"/>
                        </a:rPr>
                        <a:t>Sistema </a:t>
                      </a:r>
                      <a:r>
                        <a:rPr sz="1100" dirty="0" err="1">
                          <a:solidFill>
                            <a:srgbClr val="2D3A4A"/>
                          </a:solidFill>
                          <a:latin typeface="Calibri"/>
                        </a:rPr>
                        <a:t>completo</a:t>
                      </a:r>
                      <a:endParaRPr sz="1100" dirty="0">
                        <a:solidFill>
                          <a:srgbClr val="2D3A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2D3A4A"/>
                          </a:solidFill>
                          <a:latin typeface="Calibri"/>
                        </a:rPr>
                        <a:t>≈ R$ </a:t>
                      </a:r>
                      <a:r>
                        <a:rPr lang="pt-BR" sz="1100" dirty="0" smtClean="0">
                          <a:solidFill>
                            <a:srgbClr val="2D3A4A"/>
                          </a:solidFill>
                          <a:latin typeface="Calibri"/>
                        </a:rPr>
                        <a:t>9,35</a:t>
                      </a:r>
                      <a:endParaRPr sz="1100" dirty="0">
                        <a:solidFill>
                          <a:srgbClr val="2D3A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2D3A4A"/>
                          </a:solidFill>
                          <a:latin typeface="Calibri"/>
                        </a:rPr>
                        <a:t>≈ R$ </a:t>
                      </a:r>
                      <a:r>
                        <a:rPr lang="pt-BR" sz="1100" dirty="0" smtClean="0">
                          <a:solidFill>
                            <a:srgbClr val="2D3A4A"/>
                          </a:solidFill>
                          <a:latin typeface="Calibri"/>
                        </a:rPr>
                        <a:t>112</a:t>
                      </a:r>
                      <a:endParaRPr sz="1100" dirty="0">
                        <a:solidFill>
                          <a:srgbClr val="2D3A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2D3A4A"/>
                          </a:solidFill>
                          <a:latin typeface="Calibri"/>
                        </a:rPr>
                        <a:t>✓ </a:t>
                      </a:r>
                      <a:r>
                        <a:rPr sz="1100" dirty="0" err="1">
                          <a:solidFill>
                            <a:srgbClr val="2D3A4A"/>
                          </a:solidFill>
                          <a:latin typeface="Calibri"/>
                        </a:rPr>
                        <a:t>Recomendado</a:t>
                      </a:r>
                      <a:r>
                        <a:rPr sz="1100" dirty="0">
                          <a:solidFill>
                            <a:srgbClr val="2D3A4A"/>
                          </a:solidFill>
                          <a:latin typeface="Calibri"/>
                        </a:rPr>
                        <a:t> para </a:t>
                      </a:r>
                      <a:r>
                        <a:rPr sz="1100" dirty="0" err="1">
                          <a:solidFill>
                            <a:srgbClr val="2D3A4A"/>
                          </a:solidFill>
                          <a:latin typeface="Calibri"/>
                        </a:rPr>
                        <a:t>início</a:t>
                      </a:r>
                      <a:endParaRPr sz="1100" dirty="0">
                        <a:solidFill>
                          <a:srgbClr val="2D3A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dirty="0" err="1">
                          <a:solidFill>
                            <a:srgbClr val="2D3A4A"/>
                          </a:solidFill>
                          <a:latin typeface="Calibri"/>
                        </a:rPr>
                        <a:t>Servidor</a:t>
                      </a:r>
                      <a:r>
                        <a:rPr sz="1100" dirty="0">
                          <a:solidFill>
                            <a:srgbClr val="2D3A4A"/>
                          </a:solidFill>
                          <a:latin typeface="Calibri"/>
                        </a:rPr>
                        <a:t> OCI</a:t>
                      </a:r>
                    </a:p>
                    <a:p>
                      <a:r>
                        <a:rPr sz="1100" dirty="0">
                          <a:solidFill>
                            <a:srgbClr val="2D3A4A"/>
                          </a:solidFill>
                          <a:latin typeface="Calibri"/>
                        </a:rPr>
                        <a:t>(Pago </a:t>
                      </a:r>
                      <a:r>
                        <a:rPr sz="1100" dirty="0" err="1">
                          <a:solidFill>
                            <a:srgbClr val="2D3A4A"/>
                          </a:solidFill>
                          <a:latin typeface="Calibri"/>
                        </a:rPr>
                        <a:t>básico</a:t>
                      </a:r>
                      <a:r>
                        <a:rPr sz="1100" dirty="0">
                          <a:solidFill>
                            <a:srgbClr val="2D3A4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3A4A"/>
                          </a:solidFill>
                          <a:latin typeface="Calibri"/>
                        </a:rPr>
                        <a:t>Mais capacidade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3A4A"/>
                          </a:solidFill>
                          <a:latin typeface="Calibri"/>
                        </a:rPr>
                        <a:t>≈ R$ 110,00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3A4A"/>
                          </a:solidFill>
                          <a:latin typeface="Calibri"/>
                        </a:rPr>
                        <a:t>≈ R$ 1.320,00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3A4A"/>
                          </a:solidFill>
                          <a:latin typeface="Calibri"/>
                        </a:rPr>
                        <a:t>Se o sistema crescer muito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2D3A4A"/>
                          </a:solidFill>
                          <a:latin typeface="Calibri"/>
                        </a:rPr>
                        <a:t>TOTAL — </a:t>
                      </a:r>
                      <a:r>
                        <a:rPr sz="1100" dirty="0" err="1">
                          <a:solidFill>
                            <a:srgbClr val="2D3A4A"/>
                          </a:solidFill>
                          <a:latin typeface="Calibri"/>
                        </a:rPr>
                        <a:t>Cenário</a:t>
                      </a:r>
                      <a:r>
                        <a:rPr sz="1100" dirty="0">
                          <a:solidFill>
                            <a:srgbClr val="2D3A4A"/>
                          </a:solidFill>
                          <a:latin typeface="Calibri"/>
                        </a:rPr>
                        <a:t> Pago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2D3A4A"/>
                          </a:solidFill>
                          <a:latin typeface="Calibri"/>
                        </a:rPr>
                        <a:t>Sistema </a:t>
                      </a:r>
                      <a:r>
                        <a:rPr sz="1100" dirty="0" err="1">
                          <a:solidFill>
                            <a:srgbClr val="2D3A4A"/>
                          </a:solidFill>
                          <a:latin typeface="Calibri"/>
                        </a:rPr>
                        <a:t>escalado</a:t>
                      </a:r>
                      <a:endParaRPr sz="1100" dirty="0">
                        <a:solidFill>
                          <a:srgbClr val="2D3A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2D3A4A"/>
                          </a:solidFill>
                          <a:latin typeface="Calibri"/>
                        </a:rPr>
                        <a:t>≈ R$ 113,33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2D3A4A"/>
                          </a:solidFill>
                          <a:latin typeface="Calibri"/>
                        </a:rPr>
                        <a:t>≈ R$ 1.360,00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2D3A4A"/>
                          </a:solidFill>
                          <a:latin typeface="Calibri"/>
                        </a:rPr>
                        <a:t>Upgrade </a:t>
                      </a:r>
                      <a:r>
                        <a:rPr sz="1100" dirty="0" err="1">
                          <a:solidFill>
                            <a:srgbClr val="2D3A4A"/>
                          </a:solidFill>
                          <a:latin typeface="Calibri"/>
                        </a:rPr>
                        <a:t>sem</a:t>
                      </a:r>
                      <a:r>
                        <a:rPr sz="1100" dirty="0">
                          <a:solidFill>
                            <a:srgbClr val="2D3A4A"/>
                          </a:solidFill>
                          <a:latin typeface="Calibri"/>
                        </a:rPr>
                        <a:t> </a:t>
                      </a:r>
                      <a:r>
                        <a:rPr sz="1100" dirty="0" err="1">
                          <a:solidFill>
                            <a:srgbClr val="2D3A4A"/>
                          </a:solidFill>
                          <a:latin typeface="Calibri"/>
                        </a:rPr>
                        <a:t>reescrever</a:t>
                      </a:r>
                      <a:r>
                        <a:rPr sz="1100" dirty="0">
                          <a:solidFill>
                            <a:srgbClr val="2D3A4A"/>
                          </a:solidFill>
                          <a:latin typeface="Calibri"/>
                        </a:rPr>
                        <a:t> nada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65760" y="6126480"/>
            <a:ext cx="11795760" cy="457200"/>
          </a:xfrm>
          <a:prstGeom prst="roundRect">
            <a:avLst>
              <a:gd name="adj" fmla="val 6000"/>
            </a:avLst>
          </a:prstGeom>
          <a:solidFill>
            <a:srgbClr val="D4EDE9"/>
          </a:solidFill>
          <a:ln w="12700">
            <a:solidFill>
              <a:srgbClr val="1679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17220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6796A"/>
                </a:solidFill>
                <a:latin typeface="Calibri"/>
              </a:rPr>
              <a:t>* Cotação: US$ 1,00 = R$ 5,70 (mai/2026). Preços sujeitos a variação cambial. Fontes: Registro.br, Cloudflare, Oracle Cloud.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92240"/>
            <a:ext cx="457200" cy="27432"/>
          </a:xfrm>
          <a:prstGeom prst="rect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E99AA"/>
                </a:solidFill>
                <a:latin typeface="Calibri"/>
              </a:rPr>
              <a:t>Casa Assistencial · Comparativo de Custos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1234440"/>
          </a:xfrm>
          <a:prstGeom prst="rect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Cenário Econômico Recomendado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B595"/>
                </a:solidFill>
                <a:latin typeface="Calibri"/>
              </a:rPr>
              <a:t>A opção de menor custo com máxima capacidade para o início do projeto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11247120" cy="2011680"/>
          </a:xfrm>
          <a:prstGeom prst="roundRect">
            <a:avLst>
              <a:gd name="adj" fmla="val 6000"/>
            </a:avLst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✅  Recomendação: OCI Always Free + Cloudflare Free + Registro.br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Custo estimado para o primeiro ano: R$ 40,00 (apenas o domínio .com.br)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4EDE9"/>
                </a:solidFill>
                <a:latin typeface="Calibri"/>
              </a:rPr>
              <a:t>Servidor, DNS, HTTPS e banco de dados: completamente GRATUITOS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57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E4A"/>
                </a:solidFill>
                <a:latin typeface="Calibri"/>
              </a:rPr>
              <a:t>Por que essa é a melhor escolha para começar?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60520"/>
            <a:ext cx="274320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4160520"/>
            <a:ext cx="2743200" cy="64008"/>
          </a:xfrm>
          <a:prstGeom prst="rect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42519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796A"/>
                </a:solidFill>
                <a:latin typeface="Calibri"/>
              </a:rPr>
              <a:t>💰 Custo Mínimo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66344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Começa com apenas R$ 40/ano. Sem surpresas na fatura.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4160520"/>
            <a:ext cx="274320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83280" y="4160520"/>
            <a:ext cx="2743200" cy="64008"/>
          </a:xfrm>
          <a:prstGeom prst="rect">
            <a:avLst/>
          </a:prstGeom>
          <a:solidFill>
            <a:srgbClr val="21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20440" y="42519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4F7E"/>
                </a:solidFill>
                <a:latin typeface="Calibri"/>
              </a:rPr>
              <a:t>📈 Sem Compromisso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466344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Se o projeto crescer, basta fazer upgrade na OCI. Sem reescrever nada.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160520"/>
            <a:ext cx="274320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60" y="4160520"/>
            <a:ext cx="2743200" cy="64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42519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🔒 Segurança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66344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HTTPS grátis e proteção DDoS do Cloudflare inclusos automaticamente.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4160520"/>
            <a:ext cx="274320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235440" y="4160520"/>
            <a:ext cx="2743200" cy="6400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72600" y="42519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  <a:latin typeface="Calibri"/>
              </a:rPr>
              <a:t>⚡ Capacidade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466344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alibri"/>
              </a:rPr>
              <a:t>4 OCPU e 24 GB RAM é mais que suficiente para dezenas de usuários.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217920"/>
            <a:ext cx="11247120" cy="411480"/>
          </a:xfrm>
          <a:prstGeom prst="roundRect">
            <a:avLst>
              <a:gd name="adj" fmla="val 6000"/>
            </a:avLst>
          </a:prstGeom>
          <a:solidFill>
            <a:srgbClr val="FEF9E7"/>
          </a:solidFill>
          <a:ln w="12700">
            <a:solidFill>
              <a:srgbClr val="F0A3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62636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D6808"/>
                </a:solidFill>
                <a:latin typeface="Calibri"/>
              </a:rPr>
              <a:t>📌  Considere upgrade quando: usuários simultâneos &gt; 50 | banco de dados &gt; 15 GB | necessidade de maior velocidade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492240"/>
            <a:ext cx="457200" cy="27432"/>
          </a:xfrm>
          <a:prstGeom prst="rect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E99AA"/>
                </a:solidFill>
                <a:latin typeface="Calibri"/>
              </a:rPr>
              <a:t>Casa Assistencial · Cenário Recomendado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1234440"/>
          </a:xfrm>
          <a:prstGeom prst="rect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Escalabilidade — O Sistema Pode Crescer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B595"/>
                </a:solidFill>
                <a:latin typeface="Calibri"/>
              </a:rPr>
              <a:t>Sem reescrever nada: o sistema foi projetado para crescer junto com a instituição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920240"/>
            <a:ext cx="2743200" cy="4114800"/>
          </a:xfrm>
          <a:prstGeom prst="roundRect">
            <a:avLst>
              <a:gd name="adj" fmla="val 6000"/>
            </a:avLst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205740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📌 Hoje
(Início)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97480"/>
            <a:ext cx="219456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83464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Sistema em uso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4612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1 unidade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5760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Até 20 usuários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6908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OCI Always Free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8056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Custo: R$ 40/ano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1920240"/>
            <a:ext cx="2743200" cy="4114800"/>
          </a:xfrm>
          <a:prstGeom prst="roundRect">
            <a:avLst>
              <a:gd name="adj" fmla="val 6000"/>
            </a:avLst>
          </a:prstGeom>
          <a:solidFill>
            <a:srgbClr val="21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91840" y="205740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📈 Fase 2
(Crescimento)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6160" y="2697480"/>
            <a:ext cx="219456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0" y="283464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Múltiplas unidades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24612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Até 100 usuários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65760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Mais dados e alertas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06908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OCI pago básico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48056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Custo: ≈ R$ 1.400/ano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920240"/>
            <a:ext cx="2743200" cy="4114800"/>
          </a:xfrm>
          <a:prstGeom prst="roundRect">
            <a:avLst>
              <a:gd name="adj" fmla="val 6000"/>
            </a:avLst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0" y="205740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🚀 Fase 3
(Expansão)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2697480"/>
            <a:ext cx="219456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283464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Integração com e-mail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24612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App mobile nativo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65760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Relatórios avançados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06908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Infraestrutura robusta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48056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Custo: sob demanda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0" y="1920240"/>
            <a:ext cx="2743200" cy="4114800"/>
          </a:xfrm>
          <a:prstGeom prst="roundRect">
            <a:avLst>
              <a:gd name="adj" fmla="val 6000"/>
            </a:avLst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0" y="205740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🌐 Fase 4
(Escala)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18320" y="2697480"/>
            <a:ext cx="219456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26880" y="283464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Múltiplas instituições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324612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API pública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365760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Integrações externas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406908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Alta disponibilidade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448056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Modelo SaaS possível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3127248" y="3931920"/>
            <a:ext cx="146304" cy="228600"/>
          </a:xfrm>
          <a:prstGeom prst="rightArrow">
            <a:avLst/>
          </a:prstGeom>
          <a:solidFill>
            <a:srgbClr val="F0A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ight Arrow 39"/>
          <p:cNvSpPr/>
          <p:nvPr/>
        </p:nvSpPr>
        <p:spPr>
          <a:xfrm>
            <a:off x="6053328" y="3931920"/>
            <a:ext cx="146304" cy="228600"/>
          </a:xfrm>
          <a:prstGeom prst="rightArrow">
            <a:avLst/>
          </a:prstGeom>
          <a:solidFill>
            <a:srgbClr val="F0A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ight Arrow 40"/>
          <p:cNvSpPr/>
          <p:nvPr/>
        </p:nvSpPr>
        <p:spPr>
          <a:xfrm>
            <a:off x="8979408" y="3931920"/>
            <a:ext cx="146304" cy="228600"/>
          </a:xfrm>
          <a:prstGeom prst="rightArrow">
            <a:avLst/>
          </a:prstGeom>
          <a:solidFill>
            <a:srgbClr val="F0A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365760" y="6217920"/>
            <a:ext cx="11430000" cy="411480"/>
          </a:xfrm>
          <a:prstGeom prst="roundRect">
            <a:avLst>
              <a:gd name="adj" fmla="val 6000"/>
            </a:avLst>
          </a:prstGeom>
          <a:solidFill>
            <a:srgbClr val="D4EDE9"/>
          </a:solidFill>
          <a:ln w="12700">
            <a:solidFill>
              <a:srgbClr val="1679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48640" y="626364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796A"/>
                </a:solidFill>
                <a:latin typeface="Calibri"/>
              </a:rPr>
              <a:t>✅  Cada fase é uma evolução natural. Nunca há necessidade de refazer o sistema — apenas expandir.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6492240"/>
            <a:ext cx="457200" cy="27432"/>
          </a:xfrm>
          <a:prstGeom prst="rect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E99AA"/>
                </a:solidFill>
                <a:latin typeface="Calibri"/>
              </a:rPr>
              <a:t>Casa Assistencial · Escalabilidade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" cy="6858000"/>
          </a:xfrm>
          <a:prstGeom prst="rect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0" y="-1371600"/>
            <a:ext cx="4572000" cy="4572000"/>
          </a:xfrm>
          <a:prstGeom prst="ellipse">
            <a:avLst/>
          </a:prstGeom>
          <a:solidFill>
            <a:srgbClr val="21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0" y="-731520"/>
            <a:ext cx="2926080" cy="2926080"/>
          </a:xfrm>
          <a:prstGeom prst="ellipse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0" y="5029200"/>
            <a:ext cx="2286000" cy="2286000"/>
          </a:xfrm>
          <a:prstGeom prst="ellipse">
            <a:avLst/>
          </a:prstGeom>
          <a:solidFill>
            <a:srgbClr val="1A2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6400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B595"/>
                </a:solidFill>
                <a:latin typeface="Calibri"/>
              </a:rPr>
              <a:t>Conclusão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18872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Um sistema moderno,
acessível e viável.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2880360"/>
            <a:ext cx="6400800" cy="41148"/>
          </a:xfrm>
          <a:prstGeom prst="rect">
            <a:avLst/>
          </a:prstGeom>
          <a:solidFill>
            <a:srgbClr val="1AB5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97280" y="3108960"/>
            <a:ext cx="8961120" cy="868680"/>
          </a:xfrm>
          <a:prstGeom prst="roundRect">
            <a:avLst>
              <a:gd name="adj" fmla="val 6000"/>
            </a:avLst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97280" y="3108960"/>
            <a:ext cx="64008" cy="868680"/>
          </a:xfrm>
          <a:prstGeom prst="rect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25880" y="317296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🏗 Arquitetura Sólida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53872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9AA"/>
                </a:solidFill>
                <a:latin typeface="Calibri"/>
              </a:rPr>
              <a:t>Frontend React + Backend FastAPI + PostgreSQL
Testado, documentado e pronto para produção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069080"/>
            <a:ext cx="8961120" cy="868680"/>
          </a:xfrm>
          <a:prstGeom prst="roundRect">
            <a:avLst>
              <a:gd name="adj" fmla="val 6000"/>
            </a:avLst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97280" y="4069080"/>
            <a:ext cx="64008" cy="868680"/>
          </a:xfrm>
          <a:prstGeom prst="rect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25880" y="413308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☁ Infraestrutura Inteligente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49884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9AA"/>
                </a:solidFill>
                <a:latin typeface="Calibri"/>
              </a:rPr>
              <a:t>OCI Always Free + Cloudflare + Registro.br
Custo inicial de apenas R$ 40/ano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5029200"/>
            <a:ext cx="8961120" cy="868680"/>
          </a:xfrm>
          <a:prstGeom prst="roundRect">
            <a:avLst>
              <a:gd name="adj" fmla="val 6000"/>
            </a:avLst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97280" y="5029200"/>
            <a:ext cx="64008" cy="868680"/>
          </a:xfrm>
          <a:prstGeom prst="rect">
            <a:avLst/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25880" y="509320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📈 Pronto para Crescer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45896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9AA"/>
                </a:solidFill>
                <a:latin typeface="Calibri"/>
              </a:rPr>
              <a:t>Escalabilidade sem reescrever
Expande conforme a demanda aumenta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6035040"/>
            <a:ext cx="8961120" cy="594360"/>
          </a:xfrm>
          <a:prstGeom prst="roundRect">
            <a:avLst>
              <a:gd name="adj" fmla="val 6000"/>
            </a:avLst>
          </a:prstGeom>
          <a:solidFill>
            <a:srgbClr val="167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71600" y="610819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🚀  O sistema está em desenvolvimento e pronto para entrar em produção.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99AA"/>
                </a:solidFill>
                <a:latin typeface="Calibri"/>
              </a:rPr>
              <a:t>Casa Assistencial  ·  2026  ·  Plataforma de Gestão Assistencial em Nuvem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1810</Words>
  <Application>Microsoft Office PowerPoint</Application>
  <PresentationFormat>Personalizar</PresentationFormat>
  <Paragraphs>379</Paragraphs>
  <Slides>18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19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User</cp:lastModifiedBy>
  <cp:revision>6</cp:revision>
  <dcterms:created xsi:type="dcterms:W3CDTF">2013-01-27T09:14:16Z</dcterms:created>
  <dcterms:modified xsi:type="dcterms:W3CDTF">2026-05-11T19:24:20Z</dcterms:modified>
  <cp:category/>
</cp:coreProperties>
</file>